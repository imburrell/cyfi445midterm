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9" r:id="rId4"/>
  </p:sldMasterIdLst>
  <p:notesMasterIdLst>
    <p:notesMasterId r:id="rId19"/>
  </p:notesMasterIdLst>
  <p:handoutMasterIdLst>
    <p:handoutMasterId r:id="rId20"/>
  </p:handoutMasterIdLst>
  <p:sldIdLst>
    <p:sldId id="351" r:id="rId5"/>
    <p:sldId id="356" r:id="rId6"/>
    <p:sldId id="358" r:id="rId7"/>
    <p:sldId id="357" r:id="rId8"/>
    <p:sldId id="352" r:id="rId9"/>
    <p:sldId id="353" r:id="rId10"/>
    <p:sldId id="355" r:id="rId11"/>
    <p:sldId id="360" r:id="rId12"/>
    <p:sldId id="362" r:id="rId13"/>
    <p:sldId id="364" r:id="rId14"/>
    <p:sldId id="365" r:id="rId15"/>
    <p:sldId id="361" r:id="rId16"/>
    <p:sldId id="354" r:id="rId17"/>
    <p:sldId id="3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84B"/>
    <a:srgbClr val="E7EDF2"/>
    <a:srgbClr val="17212C"/>
    <a:srgbClr val="EBB471"/>
    <a:srgbClr val="1DCF3D"/>
    <a:srgbClr val="FFE6DA"/>
    <a:srgbClr val="E610A2"/>
    <a:srgbClr val="EDD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FA6C0-435A-913D-DA71-8EA0BB664E62}" v="382" dt="2026-10-19T14:51:47.841"/>
    <p1510:client id="{696710CE-B4E8-9130-E5BD-A78BC17FB8F8}" v="32" dt="2026-10-19T12:06:50.704"/>
    <p1510:client id="{9C1D2FBB-5CC7-4B51-BC42-99E919050F53}" v="35" dt="2026-10-18T17:02:38.200"/>
    <p1510:client id="{C8E2853E-22F5-C942-75F2-8610951F676D}" v="65" dt="2026-10-19T15:21:20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5E4919-E033-41C8-AEE2-17504250F7D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850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FigureOut">
              <a:rPr lang="en-US" dirty="0"/>
              <a:pPr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FigureOut">
              <a:rPr lang="en-US" dirty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83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/>
            <a:ahLst/>
            <a:cxnLst/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C7A302-1799-4123-960A-AC3BB0278DAE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810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231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933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076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1E532691-8605-4D75-9B37-0F29951CF35A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510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9215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/>
            <a:ahLst/>
            <a:cxnLst/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FigureOut">
              <a:rPr lang="en-US" dirty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891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/>
            <a:ahLst/>
            <a:cxnLst/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1E8540-4D23-42CD-8A63-F2EAD91093A7}" type="datetimeFigureOut">
              <a:rPr lang="en-US" dirty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7010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B456EB-19FD-4A38-8010-F86DE924658C}" type="datetimeFigureOut">
              <a:rPr lang="en-US" dirty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/>
            <a:ahLst/>
            <a:cxnLst/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8927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ADCD4E-3EB5-4828-8896-DAF01418F81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4399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8BB81F-FF8D-4CDB-8C81-6D8C7DBC8B8C}" type="datetimeFigureOut">
              <a:rPr lang="en-US" dirty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3917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/>
            <a:ahLst/>
            <a:cxnLst/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618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708C1C0-E3FE-42AC-82A3-E6DC4F473B5F}" type="datetimeFigureOut">
              <a:rPr lang="en-US" dirty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75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FigureOut">
              <a:rPr lang="en-US" dirty="0"/>
              <a:t>10/19/2026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56193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018939-3725-45C4-8448-060C1C945770}" type="datetimeFigureOut">
              <a:rPr lang="en-US" dirty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8256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A68E59-4168-43B1-871D-9D793958CB7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5985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8A96B5-6C84-4F87-863B-82F8A700BDB6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8361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9922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D0114CA0-7CEA-48F6-8B27-4A03BEF1B362}" type="datetimeFigureOut">
              <a:rPr lang="en-US" dirty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53026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1EDD8A06-915F-45A0-B576-0929C47FD8AE}" type="datetimeFigureOut">
              <a:rPr lang="en-US" dirty="0"/>
              <a:t>10/19/2026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6894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4D05E5D-68FD-447C-A2DD-5EC26B56527F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91409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E5D97B4D-FF2F-4402-9FD4-AE767FCF1FF3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09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57766D-ED87-4A0C-9B23-F4979C5AA24E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5606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1450B2-75D0-4277-B6D7-7B5D301DCF72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206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AF504E6F-5E20-457A-A4D7-010D88E2AB6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 userDrawn="1"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53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867155" cy="175750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8" y="3242948"/>
            <a:ext cx="3867154" cy="30816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527" y="1001714"/>
            <a:ext cx="6696073" cy="5221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2"/>
                </a:solidFill>
              </a:defRPr>
            </a:lvl1pPr>
            <a:lvl2pPr>
              <a:defRPr lang="en-US" dirty="0">
                <a:solidFill>
                  <a:schemeClr val="tx2"/>
                </a:solidFill>
              </a:defRPr>
            </a:lvl2pPr>
            <a:lvl3pPr>
              <a:defRPr lang="en-US" dirty="0">
                <a:solidFill>
                  <a:schemeClr val="tx2"/>
                </a:solidFill>
              </a:defRPr>
            </a:lvl3pPr>
            <a:lvl4pPr>
              <a:defRPr lang="en-US" dirty="0">
                <a:solidFill>
                  <a:schemeClr val="tx2"/>
                </a:solidFill>
              </a:defRPr>
            </a:lvl4pPr>
            <a:lvl5pPr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9CF624E3-F692-4ABF-8B9A-804B11213B17}" type="datetime1">
              <a:rPr lang="en-US" smtClean="0"/>
              <a:t>10/19/2026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0561F0-CF17-B530-6961-589A8ED59092}"/>
              </a:ext>
            </a:extLst>
          </p:cNvPr>
          <p:cNvSpPr/>
          <p:nvPr/>
        </p:nvSpPr>
        <p:spPr>
          <a:xfrm>
            <a:off x="634029" y="570037"/>
            <a:ext cx="3766523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CC40D6-7654-D186-61ED-908232C31F69}"/>
              </a:ext>
            </a:extLst>
          </p:cNvPr>
          <p:cNvSpPr/>
          <p:nvPr/>
        </p:nvSpPr>
        <p:spPr>
          <a:xfrm>
            <a:off x="4400552" y="570037"/>
            <a:ext cx="7791448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5F68458-1A7A-4A29-A16B-4424C6D3B5E6}" type="datetimeFigureOut">
              <a:rPr lang="en-US" dirty="0"/>
              <a:pPr/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EAA3239-9EA4-4A65-A281-97F994456D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0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22" r:id="rId13"/>
    <p:sldLayoutId id="2147484023" r:id="rId14"/>
    <p:sldLayoutId id="2147484024" r:id="rId15"/>
    <p:sldLayoutId id="2147484025" r:id="rId16"/>
    <p:sldLayoutId id="2147484026" r:id="rId17"/>
    <p:sldLayoutId id="2147484027" r:id="rId18"/>
    <p:sldLayoutId id="2147484028" r:id="rId19"/>
    <p:sldLayoutId id="2147484029" r:id="rId20"/>
    <p:sldLayoutId id="2147484030" r:id="rId21"/>
    <p:sldLayoutId id="2147484031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37" r:id="rId28"/>
    <p:sldLayoutId id="2147484038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D325-094E-1D45-606B-72A50DFD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7C5F73-794F-1399-10C7-82D28DFF3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65" b="21728"/>
          <a:stretch>
            <a:fillRect/>
          </a:stretch>
        </p:blipFill>
        <p:spPr>
          <a:xfrm>
            <a:off x="20" y="10"/>
            <a:ext cx="12191979" cy="3981754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7AA1684-20AB-C31B-BD60-ED111E228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433" y="4344537"/>
            <a:ext cx="12524095" cy="8850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>
                <a:latin typeface="DaunPenh"/>
                <a:cs typeface="DaunPenh"/>
              </a:rPr>
              <a:t>Exploring AI Agent Tool Calling with Hermes Age</a:t>
            </a:r>
            <a:r>
              <a:rPr lang="en-US" sz="4000" b="1">
                <a:latin typeface="DaunPenh"/>
                <a:cs typeface="DaunPenh"/>
              </a:rPr>
              <a:t>nt</a:t>
            </a:r>
            <a:endParaRPr lang="en-US" sz="4000">
              <a:latin typeface="DaunPenh"/>
              <a:cs typeface="DaunPenh"/>
            </a:endParaRPr>
          </a:p>
          <a:p>
            <a:endParaRPr lang="en-US" sz="40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057166D-03C3-C89F-8628-7A992B931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latin typeface="Times New Roman"/>
                <a:cs typeface="Times New Roman"/>
              </a:rPr>
              <a:t>Presentation By:</a:t>
            </a:r>
          </a:p>
          <a:p>
            <a:r>
              <a:rPr lang="en-US">
                <a:latin typeface="Times New Roman"/>
                <a:cs typeface="Times New Roman"/>
              </a:rPr>
              <a:t>Jamie Murray, Ethan Majeed &amp; Israel Burrell</a:t>
            </a:r>
          </a:p>
        </p:txBody>
      </p:sp>
    </p:spTree>
    <p:extLst>
      <p:ext uri="{BB962C8B-B14F-4D97-AF65-F5344CB8AC3E}">
        <p14:creationId xmlns:p14="http://schemas.microsoft.com/office/powerpoint/2010/main" val="174411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F3DD-230D-707A-D840-C1CD2BEA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PROJECT OVERVIEW &amp; OBJECTIVES</a:t>
            </a:r>
          </a:p>
          <a:p>
            <a:pPr algn="ctr"/>
            <a:endParaRPr lang="en-US" sz="2400">
              <a:solidFill>
                <a:srgbClr val="F4B84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94286-EF5C-2314-EED1-EE1E1B6D1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Project Overview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Explore how Hermes Agent uses artificial intelligence and external tools to complete tasks involving forensic data.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Team Objectives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Demonstrate basic agent responses and tool functionality.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Test file retrieval and cross-file analysis.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Examine and document the tool-calling process.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Identify limitations, errors, and troubleshooting challenges.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E7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40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A547-3DE6-91C6-1919-E2C74549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WHAT IS HERMES AGENT?</a:t>
            </a:r>
          </a:p>
          <a:p>
            <a:endParaRPr lang="en-US">
              <a:solidFill>
                <a:srgbClr val="F4B84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60E75-010D-64C9-738C-B7BD7B4A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</a:pPr>
            <a:r>
              <a:rPr lang="en-US" sz="2800">
                <a:solidFill>
                  <a:srgbClr val="E7EDF2"/>
                </a:solidFill>
                <a:latin typeface="Times New Roman"/>
                <a:cs typeface="Times New Roman"/>
              </a:rPr>
              <a:t>Hermes is an AI agent that uses a language model to understand and respond to requests.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E7EDF2"/>
                </a:solidFill>
                <a:latin typeface="Times New Roman"/>
                <a:cs typeface="Times New Roman"/>
              </a:rPr>
              <a:t>It can use external tools to complete tasks that require additional information.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E7EDF2"/>
                </a:solidFill>
                <a:latin typeface="Times New Roman"/>
                <a:cs typeface="Times New Roman"/>
              </a:rPr>
              <a:t>These tools allow Hermes to search for information, access files, and process data.</a:t>
            </a:r>
          </a:p>
          <a:p>
            <a:pPr marL="228600" indent="-228600">
              <a:buFont typeface=""/>
              <a:buChar char="•"/>
            </a:pPr>
            <a:r>
              <a:rPr lang="en-US" sz="2800">
                <a:solidFill>
                  <a:srgbClr val="E7EDF2"/>
                </a:solidFill>
                <a:latin typeface="Times New Roman"/>
                <a:cs typeface="Times New Roman"/>
              </a:rPr>
              <a:t>Our project examines how Hermes uses these tools and documents its actions.</a:t>
            </a:r>
          </a:p>
        </p:txBody>
      </p:sp>
    </p:spTree>
    <p:extLst>
      <p:ext uri="{BB962C8B-B14F-4D97-AF65-F5344CB8AC3E}">
        <p14:creationId xmlns:p14="http://schemas.microsoft.com/office/powerpoint/2010/main" val="37022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8F5-8BF9-2825-EBF6-2CBE11C4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HERMES AGENT: PLATFORM &amp; SETUP</a:t>
            </a:r>
          </a:p>
          <a:p>
            <a:endParaRPr lang="en-US">
              <a:solidFill>
                <a:srgbClr val="F4B84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5D53D-14E1-07D4-9B7D-FFD7B0A58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Selected Platform:</a:t>
            </a:r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 Hermes Agent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Purpose:</a:t>
            </a:r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 Explore AI agent functionality and tool calling.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Installation:</a:t>
            </a:r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 Configured Hermes and connected it to a language model.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Testing Environment:</a:t>
            </a:r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 Used a controlled Windows 11 environment to perform agent testing.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r>
              <a:rPr lang="en-US" sz="2800" b="1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Initial Challenges:</a:t>
            </a:r>
            <a:r>
              <a:rPr lang="en-US" sz="2800">
                <a:solidFill>
                  <a:srgbClr val="E7EDF2"/>
                </a:solidFill>
                <a:latin typeface="Times New Roman"/>
                <a:ea typeface="+mn-lt"/>
                <a:cs typeface="Times New Roman"/>
              </a:rPr>
              <a:t> Model connectivity, configuration, and troubleshooting.</a:t>
            </a:r>
            <a:endParaRPr lang="en-US" sz="2800">
              <a:solidFill>
                <a:srgbClr val="E7EDF2"/>
              </a:solidFill>
              <a:latin typeface="Times New Roman"/>
              <a:cs typeface="Times New Roman"/>
            </a:endParaRPr>
          </a:p>
          <a:p>
            <a:endParaRPr lang="en-US">
              <a:solidFill>
                <a:srgbClr val="E7EDF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1105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F816-3BFB-1C7A-D2DB-756B642A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HERMES ARCHITECTURE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5EC7C377-BC28-AF78-22A9-E0B411C484B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10963" y="2077424"/>
            <a:ext cx="10575346" cy="447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FCF6D61-4EFB-801B-F443-C1F9E7BB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TOOL CALLING PROCESS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A06192-147D-ABA6-E36C-B7138D88D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398" y="2087902"/>
            <a:ext cx="4259034" cy="43025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just"/>
            <a:r>
              <a:rPr lang="en-US" sz="2400">
                <a:solidFill>
                  <a:srgbClr val="E7EDF2"/>
                </a:solidFill>
                <a:latin typeface="Bell MT"/>
                <a:cs typeface="Arial"/>
              </a:rPr>
              <a:t>1. </a:t>
            </a:r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User submits request</a:t>
            </a:r>
            <a:endParaRPr lang="en-US">
              <a:solidFill>
                <a:srgbClr val="E7EDF2"/>
              </a:solidFill>
            </a:endParaRP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2. Hermes analyzes request</a:t>
            </a: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3. 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The AI model selects the appropriate tool based on the user's request.</a:t>
            </a: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4. 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Hermes Agent runs the selected tool to gather information.</a:t>
            </a: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5. 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The tool sends the results back to Hermes Agent for the AI model to process.</a:t>
            </a: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6. 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The AI model analyzes the results returned by the tool.</a:t>
            </a:r>
          </a:p>
          <a:p>
            <a:pPr algn="just"/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7. 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The AI model generates a final response based on the results</a:t>
            </a:r>
            <a:r>
              <a:rPr lang="en-US" sz="2400">
                <a:solidFill>
                  <a:srgbClr val="E7EDF2"/>
                </a:solidFill>
                <a:ea typeface="+mn-lt"/>
                <a:cs typeface="+mn-lt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8A188B-1176-366B-F21E-80CD3955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871" y="1001714"/>
            <a:ext cx="4373384" cy="52212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561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E814F4C-C9CA-A7E2-44A8-404A25C8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2253" y="756650"/>
            <a:ext cx="3903915" cy="1577548"/>
          </a:xfrm>
        </p:spPr>
        <p:txBody>
          <a:bodyPr>
            <a:noAutofit/>
          </a:bodyPr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ea typeface="NSimSun"/>
                <a:cs typeface="Times New Roman"/>
              </a:rPr>
              <a:t>Example Tool </a:t>
            </a:r>
            <a:br>
              <a:rPr lang="en-US" sz="2800">
                <a:solidFill>
                  <a:srgbClr val="F4B84B"/>
                </a:solidFill>
                <a:latin typeface="Times New Roman"/>
                <a:ea typeface="NSimSun"/>
                <a:cs typeface="Times New Roman"/>
              </a:rPr>
            </a:br>
            <a:r>
              <a:rPr lang="en-US" sz="2800">
                <a:solidFill>
                  <a:srgbClr val="F4B84B"/>
                </a:solidFill>
                <a:latin typeface="Times New Roman"/>
                <a:ea typeface="NSimSun"/>
                <a:cs typeface="Times New Roman"/>
              </a:rPr>
              <a:t>Call</a:t>
            </a:r>
          </a:p>
        </p:txBody>
      </p:sp>
      <p:pic>
        <p:nvPicPr>
          <p:cNvPr id="5" name="Content Placeholder 4" descr="A screenshot of a weather report&#10;&#10;AI-generated content may be incorrect.">
            <a:extLst>
              <a:ext uri="{FF2B5EF4-FFF2-40B4-BE49-F238E27FC236}">
                <a16:creationId xmlns:a16="http://schemas.microsoft.com/office/drawing/2014/main" id="{0487B664-C2FC-48A0-CD69-0C7CBAFEE0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01192" y="842288"/>
            <a:ext cx="8487913" cy="524706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A04F91-61CF-AB17-FE20-F3951726E7C6}"/>
              </a:ext>
            </a:extLst>
          </p:cNvPr>
          <p:cNvSpPr txBox="1"/>
          <p:nvPr/>
        </p:nvSpPr>
        <p:spPr>
          <a:xfrm>
            <a:off x="114849" y="2100039"/>
            <a:ext cx="363070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>
                <a:solidFill>
                  <a:srgbClr val="E7EDF2"/>
                </a:solidFill>
                <a:latin typeface="Bell MT"/>
                <a:ea typeface="Segoe UI"/>
                <a:cs typeface="Posterama"/>
              </a:rPr>
              <a:t>User Prompt</a:t>
            </a:r>
            <a:r>
              <a:rPr lang="en-US" sz="1600">
                <a:solidFill>
                  <a:srgbClr val="E7EDF2"/>
                </a:solidFill>
                <a:latin typeface="Bell MT"/>
                <a:ea typeface="Segoe UI"/>
                <a:cs typeface="Posterama"/>
              </a:rPr>
              <a:t>:</a:t>
            </a:r>
          </a:p>
          <a:p>
            <a:r>
              <a:rPr lang="en-US" sz="1600">
                <a:solidFill>
                  <a:srgbClr val="E7EDF2"/>
                </a:solidFill>
                <a:latin typeface="Bell MT"/>
                <a:ea typeface="Segoe UI"/>
                <a:cs typeface="Posterama"/>
              </a:rPr>
              <a:t>What is the current weather in Maryland?</a:t>
            </a:r>
            <a:endParaRPr lang="en-US" sz="1600">
              <a:solidFill>
                <a:srgbClr val="E7EDF2"/>
              </a:solidFill>
              <a:latin typeface="Bell MT"/>
              <a:cs typeface="Posterama"/>
            </a:endParaRPr>
          </a:p>
          <a:p>
            <a:endParaRPr lang="en-US" b="0" i="0">
              <a:solidFill>
                <a:srgbClr val="E7EDF2"/>
              </a:solidFill>
              <a:latin typeface="Segoe UI"/>
              <a:ea typeface="Segoe UI"/>
              <a:cs typeface="Segoe UI"/>
            </a:endParaRPr>
          </a:p>
          <a:p>
            <a:pPr algn="ctr"/>
            <a:endParaRPr lang="en-US">
              <a:solidFill>
                <a:srgbClr val="E7EDF2"/>
              </a:solidFill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F07F0-86A9-0EFE-F32A-AE454BDD9CAF}"/>
              </a:ext>
            </a:extLst>
          </p:cNvPr>
          <p:cNvSpPr txBox="1"/>
          <p:nvPr/>
        </p:nvSpPr>
        <p:spPr>
          <a:xfrm>
            <a:off x="114848" y="3146007"/>
            <a:ext cx="2581835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E7EDF2"/>
                </a:solidFill>
                <a:latin typeface="Bell MT"/>
                <a:cs typeface="Posterama"/>
              </a:rPr>
              <a:t>Tool Used:</a:t>
            </a:r>
          </a:p>
          <a:p>
            <a:pPr algn="l"/>
            <a:r>
              <a:rPr lang="en-US" sz="1600" err="1">
                <a:solidFill>
                  <a:srgbClr val="E7EDF2"/>
                </a:solidFill>
                <a:latin typeface="Bell MT"/>
                <a:cs typeface="Posterama"/>
              </a:rPr>
              <a:t>Web_search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39DBA-9D1D-441A-572A-1B191A7BAA24}"/>
              </a:ext>
            </a:extLst>
          </p:cNvPr>
          <p:cNvSpPr txBox="1"/>
          <p:nvPr/>
        </p:nvSpPr>
        <p:spPr>
          <a:xfrm>
            <a:off x="114850" y="4009083"/>
            <a:ext cx="3702422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E7EDF2"/>
                </a:solidFill>
                <a:latin typeface="Bell MT"/>
                <a:cs typeface="Posterama"/>
              </a:rPr>
              <a:t>Result: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E7EDF2"/>
                </a:solidFill>
                <a:latin typeface="Bell MT"/>
                <a:ea typeface="+mn-lt"/>
                <a:cs typeface="Posterama"/>
              </a:rPr>
              <a:t>Hermes responded to the weather question.</a:t>
            </a:r>
            <a:endParaRPr lang="en-US" sz="1600">
              <a:solidFill>
                <a:srgbClr val="E7EDF2"/>
              </a:solidFill>
              <a:latin typeface="Bell MT"/>
              <a:cs typeface="Posteram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E7EDF2"/>
                </a:solidFill>
                <a:latin typeface="Bell MT"/>
                <a:ea typeface="+mn-lt"/>
                <a:cs typeface="Posterama"/>
              </a:rPr>
              <a:t>When asked, Hermes identified </a:t>
            </a:r>
            <a:r>
              <a:rPr lang="en-US" sz="1600" err="1">
                <a:solidFill>
                  <a:srgbClr val="E7EDF2"/>
                </a:solidFill>
                <a:latin typeface="Bell MT"/>
                <a:cs typeface="Posterama"/>
              </a:rPr>
              <a:t>web_search</a:t>
            </a:r>
            <a:r>
              <a:rPr lang="en-US" sz="1600">
                <a:solidFill>
                  <a:srgbClr val="E7EDF2"/>
                </a:solidFill>
                <a:latin typeface="Bell MT"/>
                <a:ea typeface="+mn-lt"/>
                <a:cs typeface="Posterama"/>
              </a:rPr>
              <a:t> as the tool it used.</a:t>
            </a:r>
            <a:endParaRPr lang="en-US" sz="1600">
              <a:solidFill>
                <a:srgbClr val="E7EDF2"/>
              </a:solidFill>
              <a:latin typeface="Bell MT"/>
              <a:cs typeface="Posteram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E7EDF2"/>
                </a:solidFill>
                <a:latin typeface="Bell MT"/>
                <a:ea typeface="+mn-lt"/>
                <a:cs typeface="Posterama"/>
              </a:rPr>
              <a:t>Hermes explained the steps it followed to generate its response.</a:t>
            </a:r>
            <a:endParaRPr lang="en-US" sz="1600">
              <a:solidFill>
                <a:srgbClr val="E7EDF2"/>
              </a:solidFill>
              <a:latin typeface="Bell MT"/>
              <a:cs typeface="Posterama"/>
            </a:endParaRPr>
          </a:p>
          <a:p>
            <a:endParaRPr lang="en-US">
              <a:solidFill>
                <a:srgbClr val="E7EDF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99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A23E-8EA0-5736-3E22-08EB5A18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FORENSIC DATA TESTING</a:t>
            </a:r>
          </a:p>
          <a:p>
            <a:pPr algn="ctr"/>
            <a:endParaRPr lang="en-US" sz="2400">
              <a:solidFill>
                <a:srgbClr val="F4B84B"/>
              </a:solidFill>
              <a:latin typeface="Bell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D6D2-F084-92DF-9076-89BDF6F93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rgbClr val="E7EDF2"/>
                </a:solidFill>
                <a:latin typeface="Bell MT"/>
                <a:cs typeface="Arial"/>
              </a:rPr>
              <a:t>Test 1: Basic Reasoning</a:t>
            </a:r>
            <a:endParaRPr lang="en-US" sz="2000">
              <a:solidFill>
                <a:srgbClr val="E7EDF2"/>
              </a:solidFill>
              <a:latin typeface="Bell MT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Asked Hermes to solve 2 + 2 without reading files.</a:t>
            </a:r>
          </a:p>
          <a:p>
            <a:pPr>
              <a:buFont typeface=""/>
            </a:pPr>
            <a:endParaRPr lang="en-US" sz="2000">
              <a:solidFill>
                <a:srgbClr val="E7EDF2"/>
              </a:solidFill>
              <a:latin typeface="Bell MT"/>
              <a:cs typeface="Arial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cs typeface="Arial"/>
              </a:rPr>
              <a:t>Test 2: File Retrieval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Asked Hermes to identify the owner of device D-101 using devices.csv.</a:t>
            </a:r>
          </a:p>
          <a:p>
            <a:pPr>
              <a:buFont typeface=""/>
            </a:pPr>
            <a:endParaRPr lang="en-US" sz="2000">
              <a:solidFill>
                <a:srgbClr val="E7EDF2"/>
              </a:solidFill>
              <a:latin typeface="Bell MT"/>
              <a:cs typeface="Arial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cs typeface="Arial"/>
              </a:rPr>
              <a:t>Test 3: Cross-File Analysis</a:t>
            </a:r>
          </a:p>
          <a:p>
            <a:pPr marL="228600" indent="-228600">
              <a:buFont typeface=""/>
              <a:buChar char="•"/>
            </a:pPr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Asked Hermes to identify the owner of D-102 and retrieve event E-005 from auth_events.csv.</a:t>
            </a:r>
          </a:p>
          <a:p>
            <a:pPr>
              <a:buFont typeface=""/>
            </a:pPr>
            <a:endParaRPr lang="en-US" sz="2000">
              <a:solidFill>
                <a:srgbClr val="E7EDF2"/>
              </a:solidFill>
              <a:latin typeface="Bell MT"/>
              <a:cs typeface="Arial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cs typeface="Arial"/>
              </a:rPr>
              <a:t>Purpose:</a:t>
            </a:r>
          </a:p>
          <a:p>
            <a:r>
              <a:rPr lang="en-US" sz="2000">
                <a:solidFill>
                  <a:srgbClr val="E7EDF2"/>
                </a:solidFill>
                <a:latin typeface="Bell MT"/>
                <a:cs typeface="Arial"/>
              </a:rPr>
              <a:t>Evaluate how Hermes responds to questions requiring different levels of tool use.</a:t>
            </a:r>
            <a:endParaRPr lang="en-US">
              <a:solidFill>
                <a:srgbClr val="E7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4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E1E6B-8791-E648-8E8C-6370D0F2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Forensic 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D1EFE-7155-83F2-B7D4-96BE892D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M0 – Basic Reasoning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Hermes correctly answered 2 + 2 = 4 without using external tools.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M1 – File Retrieval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Device D-101 belonged to Elena Ortiz.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Hermes used the </a:t>
            </a:r>
            <a:r>
              <a:rPr lang="en-US" sz="2000" err="1">
                <a:solidFill>
                  <a:srgbClr val="E7EDF2"/>
                </a:solidFill>
                <a:latin typeface="Bell MT"/>
                <a:cs typeface="Arial"/>
              </a:rPr>
              <a:t>read_file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tool to access the CSV data.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M2 – Cross-File Analysis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The initial attempt did not locate the requested records.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After prompt refinement, Hermes identified Maya Chen as the owner of D-102.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Event E-005: Successful login at 10:01:00 UTC on September 1, 2026.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Key Finding: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Clearer prompts helped Hermes complete the cross-file task.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>
              <a:solidFill>
                <a:srgbClr val="E7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97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6C59-2C5E-D5FB-AC4E-00F63D6C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568" y="745735"/>
            <a:ext cx="3491539" cy="4083580"/>
          </a:xfrm>
        </p:spPr>
        <p:txBody>
          <a:bodyPr/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ea typeface="+mj-lt"/>
                <a:cs typeface="Times New Roman"/>
              </a:rPr>
              <a:t>File Retrieval Demonstration (M1).</a:t>
            </a:r>
            <a:br>
              <a:rPr lang="en-US" sz="2800">
                <a:cs typeface="Arial"/>
              </a:rPr>
            </a:br>
            <a:br>
              <a:rPr lang="en-US" sz="2800"/>
            </a:br>
            <a:endParaRPr lang="en-US" sz="2800">
              <a:solidFill>
                <a:srgbClr val="F4B84B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DF24C8-F823-590C-DD18-F6C3A4A9336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74290" y="2376337"/>
            <a:ext cx="11629699" cy="2449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097D94-ABE7-FDCF-4FF0-1154BD826DAA}"/>
              </a:ext>
            </a:extLst>
          </p:cNvPr>
          <p:cNvSpPr txBox="1"/>
          <p:nvPr/>
        </p:nvSpPr>
        <p:spPr>
          <a:xfrm>
            <a:off x="271076" y="5034281"/>
            <a:ext cx="115788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7EDF2"/>
                </a:solidFill>
                <a:ea typeface="+mn-lt"/>
                <a:cs typeface="+mn-lt"/>
              </a:rPr>
              <a:t>Hermes used the </a:t>
            </a:r>
            <a:r>
              <a:rPr lang="en-US" err="1">
                <a:solidFill>
                  <a:srgbClr val="E7EDF2"/>
                </a:solidFill>
                <a:latin typeface="Consolas"/>
              </a:rPr>
              <a:t>read_file</a:t>
            </a:r>
            <a:r>
              <a:rPr lang="en-US">
                <a:solidFill>
                  <a:srgbClr val="E7EDF2"/>
                </a:solidFill>
                <a:ea typeface="+mn-lt"/>
                <a:cs typeface="+mn-lt"/>
              </a:rPr>
              <a:t> tool to examine </a:t>
            </a:r>
            <a:r>
              <a:rPr lang="en-US">
                <a:solidFill>
                  <a:srgbClr val="E7EDF2"/>
                </a:solidFill>
                <a:latin typeface="Consolas"/>
              </a:rPr>
              <a:t>devices.csv</a:t>
            </a:r>
            <a:r>
              <a:rPr lang="en-US">
                <a:solidFill>
                  <a:srgbClr val="E7EDF2"/>
                </a:solidFill>
                <a:ea typeface="+mn-lt"/>
                <a:cs typeface="+mn-lt"/>
              </a:rPr>
              <a:t> and correctly identified Elena Ortiz as the owner of device D-101.</a:t>
            </a:r>
            <a:endParaRPr lang="en-US">
              <a:solidFill>
                <a:srgbClr val="E7EDF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598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2F54-DEFC-C418-64F6-A310CF94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815" y="591450"/>
            <a:ext cx="4421437" cy="4196850"/>
          </a:xfrm>
        </p:spPr>
        <p:txBody>
          <a:bodyPr/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Cross-File Demonstration (m2)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06000C-0035-E750-5AAA-D55DC749833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03540" y="1351591"/>
            <a:ext cx="10672352" cy="1523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896DB9-A630-271D-D427-320662CE182D}"/>
              </a:ext>
            </a:extLst>
          </p:cNvPr>
          <p:cNvSpPr txBox="1"/>
          <p:nvPr/>
        </p:nvSpPr>
        <p:spPr>
          <a:xfrm>
            <a:off x="719000" y="2865006"/>
            <a:ext cx="104266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7EDF2"/>
                </a:solidFill>
                <a:ea typeface="+mn-lt"/>
                <a:cs typeface="+mn-lt"/>
              </a:rPr>
              <a:t>The initial attempt was unsuccessful. After the prompt was refined, Hermes successfully retrieved information from both CSV files.</a:t>
            </a:r>
            <a:endParaRPr lang="en-US">
              <a:solidFill>
                <a:srgbClr val="E7EDF2"/>
              </a:solidFill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533D84-F90E-049F-9638-FC0B8E074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96" y="3497482"/>
            <a:ext cx="8120085" cy="333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1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AAC7-D7B5-7FE4-7FC2-8C4381E2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CHALLENGES &amp; LIMITATIONS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>
              <a:solidFill>
                <a:srgbClr val="F4B84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7C760-1644-111D-7B2A-6467BE3FF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Installation Challenges:</a:t>
            </a:r>
            <a:r>
              <a:rPr lang="en-US" sz="18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Setting up the AI agent required troubleshooting.</a:t>
            </a:r>
            <a:endParaRPr lang="en-US" sz="1800">
              <a:solidFill>
                <a:srgbClr val="E7EDF2"/>
              </a:solidFill>
              <a:latin typeface="Bell MT"/>
            </a:endParaRPr>
          </a:p>
          <a:p>
            <a:endParaRPr lang="en-US" sz="18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18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Configuration Issues:</a:t>
            </a:r>
            <a:r>
              <a:rPr lang="en-US" sz="18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Connecting the language model and tools was not always straightforward.</a:t>
            </a:r>
            <a:endParaRPr lang="en-US" sz="1800">
              <a:solidFill>
                <a:srgbClr val="E7EDF2"/>
              </a:solidFill>
              <a:latin typeface="Bell MT"/>
            </a:endParaRPr>
          </a:p>
          <a:p>
            <a:endParaRPr lang="en-US" sz="18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18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Tool Dependence:</a:t>
            </a:r>
            <a:r>
              <a:rPr lang="en-US" sz="18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Hermes relies on properly configured tools to access external information.</a:t>
            </a:r>
            <a:endParaRPr lang="en-US" sz="1800">
              <a:solidFill>
                <a:srgbClr val="E7EDF2"/>
              </a:solidFill>
              <a:latin typeface="Bell MT"/>
            </a:endParaRPr>
          </a:p>
          <a:p>
            <a:endParaRPr lang="en-US" sz="18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18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Response Accuracy:</a:t>
            </a:r>
            <a:r>
              <a:rPr lang="en-US" sz="18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AI-generated responses should be verified against the original data.</a:t>
            </a:r>
            <a:endParaRPr lang="en-US" sz="1800">
              <a:solidFill>
                <a:srgbClr val="E7EDF2"/>
              </a:solidFill>
              <a:latin typeface="Bell MT"/>
            </a:endParaRPr>
          </a:p>
          <a:p>
            <a:endParaRPr lang="en-US" sz="18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18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Lessons Learned:</a:t>
            </a:r>
            <a:r>
              <a:rPr lang="en-US" sz="18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Testing and troubleshooting are important parts of working with AI agents.</a:t>
            </a:r>
            <a:endParaRPr lang="en-US" sz="1800">
              <a:solidFill>
                <a:srgbClr val="E7EDF2"/>
              </a:solidFill>
              <a:latin typeface="Bell MT"/>
            </a:endParaRPr>
          </a:p>
          <a:p>
            <a:endParaRPr lang="en-US">
              <a:solidFill>
                <a:srgbClr val="E7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04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759C6EB-568C-1D48-FCAD-0A9D9DC6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833" y="846625"/>
            <a:ext cx="7026437" cy="73152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pic>
        <p:nvPicPr>
          <p:cNvPr id="5" name="Content Placeholder 4" descr="Hermes Agent Desktop - Download for Mac, Windows &amp; Linux | Hermes Desktop">
            <a:extLst>
              <a:ext uri="{FF2B5EF4-FFF2-40B4-BE49-F238E27FC236}">
                <a16:creationId xmlns:a16="http://schemas.microsoft.com/office/drawing/2014/main" id="{40CA8585-4BAF-8402-6C67-D4E6BB7165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669" r="-3" b="8562"/>
          <a:stretch>
            <a:fillRect/>
          </a:stretch>
        </p:blipFill>
        <p:spPr>
          <a:xfrm>
            <a:off x="20" y="1"/>
            <a:ext cx="3998113" cy="6858000"/>
          </a:xfrm>
          <a:prstGeom prst="rect">
            <a:avLst/>
          </a:prstGeom>
          <a:noFill/>
        </p:spPr>
      </p:pic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2B18582B-9F0F-E27C-3E27-84086FD2BF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03250" y="1715362"/>
            <a:ext cx="8077241" cy="443773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"/>
              <a:buChar char="•"/>
            </a:pPr>
            <a:r>
              <a:rPr lang="en-US" sz="2400" b="0" i="0">
                <a:solidFill>
                  <a:srgbClr val="E7EDF2"/>
                </a:solidFill>
                <a:latin typeface="Kalinga"/>
                <a:ea typeface="Segoe UI"/>
                <a:cs typeface="Kalinga"/>
              </a:rPr>
              <a:t>Hermes can use </a:t>
            </a:r>
            <a:r>
              <a:rPr lang="en-US" sz="2400">
                <a:solidFill>
                  <a:srgbClr val="E7EDF2"/>
                </a:solidFill>
                <a:latin typeface="Kalinga"/>
                <a:ea typeface="Segoe UI"/>
                <a:cs typeface="Kalinga"/>
              </a:rPr>
              <a:t>external</a:t>
            </a:r>
            <a:r>
              <a:rPr lang="en-US" sz="2400" b="0" i="0">
                <a:solidFill>
                  <a:srgbClr val="E7EDF2"/>
                </a:solidFill>
                <a:latin typeface="Kalinga"/>
                <a:ea typeface="Segoe UI"/>
                <a:cs typeface="Kalinga"/>
              </a:rPr>
              <a:t> tools when additional information is required.</a:t>
            </a:r>
            <a:endParaRPr lang="en-US">
              <a:solidFill>
                <a:srgbClr val="E7EDF2"/>
              </a:solidFill>
            </a:endParaRPr>
          </a:p>
          <a:p>
            <a:pPr>
              <a:buFont typeface=""/>
              <a:buChar char="•"/>
            </a:pPr>
            <a:endParaRPr lang="en-US" sz="240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>
              <a:buFont typeface=""/>
              <a:buChar char="•"/>
            </a:pPr>
            <a:r>
              <a:rPr lang="en-US" sz="2400">
                <a:solidFill>
                  <a:srgbClr val="E7EDF2"/>
                </a:solidFill>
                <a:ea typeface="+mn-lt"/>
                <a:cs typeface="+mn-lt"/>
              </a:rPr>
              <a:t>Tool calling allows Hermes to access information beyond the AI model's existing knowledge.</a:t>
            </a:r>
            <a:endParaRPr lang="en-US" sz="2400" b="0" i="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>
              <a:buFont typeface=""/>
              <a:buChar char="•"/>
            </a:pPr>
            <a:endParaRPr lang="en-US" sz="240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 algn="l">
              <a:buFont typeface=""/>
              <a:buChar char="•"/>
            </a:pPr>
            <a:r>
              <a:rPr lang="en-US" sz="2400" b="0" i="0">
                <a:solidFill>
                  <a:srgbClr val="E7EDF2"/>
                </a:solidFill>
                <a:latin typeface="Kalinga"/>
                <a:ea typeface="Segoe UI"/>
                <a:cs typeface="Kalinga"/>
              </a:rPr>
              <a:t>Prompt quality affects the quality of results.</a:t>
            </a:r>
          </a:p>
          <a:p>
            <a:pPr>
              <a:buFont typeface=""/>
              <a:buChar char="•"/>
            </a:pPr>
            <a:endParaRPr lang="en-US" sz="240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>
              <a:buFont typeface=""/>
              <a:buChar char="•"/>
            </a:pPr>
            <a:r>
              <a:rPr lang="en-US" sz="2400">
                <a:solidFill>
                  <a:srgbClr val="E7EDF2"/>
                </a:solidFill>
                <a:ea typeface="+mn-lt"/>
                <a:cs typeface="+mn-lt"/>
              </a:rPr>
              <a:t>“Tool logs can help us understand which tools were used and what happened during a task.”</a:t>
            </a:r>
            <a:endParaRPr lang="en-US" sz="2400" b="0" i="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>
              <a:buFont typeface=""/>
              <a:buChar char="•"/>
            </a:pPr>
            <a:endParaRPr lang="en-US" sz="2400">
              <a:solidFill>
                <a:srgbClr val="E7EDF2"/>
              </a:solidFill>
              <a:latin typeface="Kalinga"/>
              <a:ea typeface="Segoe UI"/>
              <a:cs typeface="Kalinga"/>
            </a:endParaRPr>
          </a:p>
          <a:p>
            <a:pPr algn="l">
              <a:buFont typeface=""/>
              <a:buChar char="•"/>
            </a:pPr>
            <a:r>
              <a:rPr lang="en-US" sz="2400" b="0" i="0">
                <a:solidFill>
                  <a:srgbClr val="E7EDF2"/>
                </a:solidFill>
                <a:latin typeface="Kalinga"/>
                <a:ea typeface="Segoe UI"/>
                <a:cs typeface="Kalinga"/>
              </a:rPr>
              <a:t>Successful tool calls rely on proper system setup and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07883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2891-D6A0-784B-23CB-9BDA66F8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rgbClr val="F4B84B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AABC8-2D68-1E3D-1A77-67FB6172A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Hermes demonstrated basic reasoning, file retrieval, and cross-file analysis.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Clear instructions helped improve the results of more complex tasks.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Tool calls allow AI agents to work with information outside the language model.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Human verification remains important when using AI for forensic investigations.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  <a:ea typeface="+mn-lt"/>
              <a:cs typeface="+mn-lt"/>
            </a:endParaRPr>
          </a:p>
          <a:p>
            <a:r>
              <a:rPr lang="en-US" sz="2000" b="1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Overall:</a:t>
            </a:r>
            <a:r>
              <a:rPr lang="en-US" sz="2000">
                <a:solidFill>
                  <a:srgbClr val="E7EDF2"/>
                </a:solidFill>
                <a:latin typeface="Bell MT"/>
                <a:ea typeface="+mn-lt"/>
                <a:cs typeface="+mn-lt"/>
              </a:rPr>
              <a:t> Hermes showed how AI agents can assist with forensic data analysis while still requiring human oversight.</a:t>
            </a:r>
            <a:endParaRPr lang="en-US" sz="2000">
              <a:solidFill>
                <a:srgbClr val="E7EDF2"/>
              </a:solidFill>
              <a:latin typeface="Bell MT"/>
            </a:endParaRPr>
          </a:p>
          <a:p>
            <a:endParaRPr lang="en-US" sz="2000">
              <a:solidFill>
                <a:srgbClr val="E7EDF2"/>
              </a:solidFill>
              <a:latin typeface="Bell MT"/>
            </a:endParaRPr>
          </a:p>
        </p:txBody>
      </p:sp>
    </p:spTree>
    <p:extLst>
      <p:ext uri="{BB962C8B-B14F-4D97-AF65-F5344CB8AC3E}">
        <p14:creationId xmlns:p14="http://schemas.microsoft.com/office/powerpoint/2010/main" val="2723260562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Modulo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Modulo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F82CE580-7C94-4A50-B8FD-C32A34CD4AC2}" vid="{2D85724B-79BC-48FD-92DE-E2ED0CD587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Modulo</vt:lpstr>
      <vt:lpstr>Exploring AI Agent Tool Calling with Hermes Agent </vt:lpstr>
      <vt:lpstr>PROJECT OVERVIEW &amp; OBJECTIVES </vt:lpstr>
      <vt:lpstr>WHAT IS HERMES AGENT? </vt:lpstr>
      <vt:lpstr>HERMES AGENT: PLATFORM &amp; SETUP </vt:lpstr>
      <vt:lpstr>HERMES ARCHITECTURE</vt:lpstr>
      <vt:lpstr>TOOL CALLING PROCESS</vt:lpstr>
      <vt:lpstr>Example Tool  Call</vt:lpstr>
      <vt:lpstr>FORENSIC DATA TESTING </vt:lpstr>
      <vt:lpstr>Forensic Test Results</vt:lpstr>
      <vt:lpstr>File Retrieval Demonstration (M1).  </vt:lpstr>
      <vt:lpstr>Cross-File Demonstration (m2)</vt:lpstr>
      <vt:lpstr>CHALLENGES &amp; LIMITATIONS </vt:lpstr>
      <vt:lpstr>KEY TAKEAWAYS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2026-10-08T21:06:09Z</dcterms:created>
  <dcterms:modified xsi:type="dcterms:W3CDTF">2026-10-19T18:14:07Z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